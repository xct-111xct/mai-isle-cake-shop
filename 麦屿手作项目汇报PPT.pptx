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4" r:id="rId3"/>
    <p:sldId id="256" r:id="rId5"/>
    <p:sldId id="257" r:id="rId6"/>
    <p:sldId id="258" r:id="rId7"/>
    <p:sldId id="259" r:id="rId8"/>
    <p:sldId id="262" r:id="rId9"/>
    <p:sldId id="260" r:id="rId10"/>
    <p:sldId id="261" r:id="rId11"/>
    <p:sldId id="263" r:id="rId12"/>
    <p:sldId id="265" r:id="rId13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【约40秒】</a:t>
            </a:r>
          </a:p>
          <a:p>
            <a:r>
              <a:t>各位老师、同学，大家好。我展示的项目是「麦屿手作」——一个手作烘焙品牌的官网与后台管理系统。接下来我会从项目背景、开发目的讲起，重点分享我和 WorkBuddy 协作处理需求的过程，再带大家看前后台的实际效果，最后聊聊我的项目心得。</a:t>
            </a:r>
          </a:p>
          <a:p/>
          <a:p>
            <a:r>
              <a:t>过渡：说完自然翻到下一页，介绍今天的结构。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【约30秒】</a:t>
            </a:r>
          </a:p>
          <a:p>
            <a:r>
              <a:t>今天的汇报分为四个部分：第一，项目背景与开发目的；第二，WorkBuddy 在需求处理中扮演的角色；第三，项目前后台的效果展示；第四，我个人的项目心得。我们按顺序展开。</a:t>
            </a:r>
          </a:p>
          <a:p/>
          <a:p>
            <a:r>
              <a:t>过渡：先讲我们为什么要做这个项目。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【约90秒】</a:t>
            </a:r>
          </a:p>
          <a:p>
            <a:r>
              <a:t>麦屿手作是一个主打手作烘焙的品牌。我们需要为它打造两个系统：一个是面向顾客的前台官网，用来展示品牌、浏览蛋糕、查看门店和在线留言；另一个是面向运营的后台管理系统，覆盖商品、订单、门店、内容和管理员。两个系统统一使用一套 Design Token，保证视觉和体验一致。开发目的可概括为三点：统一品牌体验、提升运营效率、验证轻代码落地的路径。</a:t>
            </a:r>
          </a:p>
          <a:p/>
          <a:p>
            <a:r>
              <a:t>过渡：背景清楚了，下面重点讲开发过程中 WorkBuddy 是怎么帮我的。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【约75秒】</a:t>
            </a:r>
          </a:p>
          <a:p>
            <a:r>
              <a:t>开发过程中遇到两个典型问题：一是在线留言的错误提示重复堆叠；二是列表排序失效。通过和 WorkBuddy 协作排查，我们定位到两类问题都源于前端实现偏离了原型规范，对应文档里标记的 BUG-001 和 BUG-002。这一步让我意识到，原型和文档就是验收的基准线。</a:t>
            </a:r>
          </a:p>
          <a:p/>
          <a:p>
            <a:r>
              <a:t>过渡：找到根因之后，我们怎么改的？看下一页。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【约75秒】</a:t>
            </a:r>
          </a:p>
          <a:p>
            <a:r>
              <a:t>定位问题后，我们把开发实施方案从 v1.0 升级到 v1.1，新增了 BUG-001、002 的复发风险和强制规避项——相当于给后面的人立了一道护栏。同时，WorkBuddy 还帮我直接完成了 LOGO 替换、品牌配图和门店图的生成，并写进后台。从诊断到执行，基本是闭环完成的。</a:t>
            </a:r>
          </a:p>
          <a:p/>
          <a:p>
            <a:r>
              <a:t>过渡：那最终做出来的系统长什么样？我们看效果。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【约60秒】</a:t>
            </a:r>
          </a:p>
          <a:p>
            <a:r>
              <a:t>这是面向顾客的前台蛋糕展示页。左侧支持按分类筛选、多维排序；右侧以卡片网格呈现价格、系列和清晰的蛋糕图片。整体延续品牌暖米底色，把视觉重心留给产品本身，用视觉去驱动转化。</a:t>
            </a:r>
          </a:p>
          <a:p/>
          <a:p>
            <a:r>
              <a:t>过渡：项目做完了，我有一些心得想分享。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【约60秒】</a:t>
            </a:r>
          </a:p>
          <a:p>
            <a:r>
              <a:t>先看后台。这是仪表盘页面，顶部聚合了蛋糕、订单、门店、留言四个核心指标；下方是最近订单的实时列表和订单状态分布。运营一屏就能掌握经营动态。配色延续了品牌的暖米色调，既保证信息密度，又不失温度。</a:t>
            </a:r>
          </a:p>
          <a:p/>
          <a:p>
            <a:r>
              <a:t>过渡：除了数据，内容也能自己维护。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【约60秒】</a:t>
            </a:r>
          </a:p>
          <a:p>
            <a:r>
              <a:t>这是后台的内容管理模块，覆盖 Banner、品牌故事、理念、特色、历程等九大区块。内容用富文本加 Markdown 存储，运营可以自己维护文案和图片，不需要每次都找开发。前后台共享同一套视觉体系，也降低了维护成本。</a:t>
            </a:r>
          </a:p>
          <a:p/>
          <a:p>
            <a:r>
              <a:t>过渡：说完后台，再看顾客在前台看到的界面。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【约75秒】</a:t>
            </a:r>
          </a:p>
          <a:p>
            <a:r>
              <a:t>三点心得。第一，规范先行：原型和文档是验收基准，偏差早发现早修正。第二，AI 协作：WorkBuddy 在诊断、方案迭代和素材生成上大幅提升了交付效率。第三，持续迭代：把风险列成清单、变成强制项，才能让同类 BUG 难以复发。</a:t>
            </a:r>
          </a:p>
          <a:p/>
          <a:p>
            <a:r>
              <a:t>过渡：最后是结尾。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【约30秒】</a:t>
            </a:r>
          </a:p>
          <a:p>
            <a:r>
              <a:t>我的汇报到这里。麦屿手作，从一捧麦田，到一座小屿。感谢各位老师同学的聆听，也欢迎提问。谢谢！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6B52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3619500"/>
            <a:ext cx="2904439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24">
                <a:solidFill>
                  <a:srgbClr val="F0E1B9"/>
                </a:solidFill>
                <a:latin typeface="Cormorant Garamond"/>
                <a:ea typeface="Cormorant Garamond"/>
                <a:cs typeface="Cormorant Garamond"/>
              </a:rPr>
              <a:t>MAI-ISLE PROJECT REVIEW</a:t>
            </a:r>
            <a:endParaRPr lang="en-US" sz="1800" spc="24">
              <a:solidFill>
                <a:srgbClr val="F0E1B9"/>
              </a:solidFill>
              <a:latin typeface="Cormorant Garamond"/>
              <a:ea typeface="Cormorant Garamond"/>
              <a:cs typeface="Cormorant Garamond"/>
            </a:endParaRPr>
          </a:p>
        </p:txBody>
      </p:sp>
      <p:sp>
        <p:nvSpPr>
          <p:cNvPr id="4" name="TextBox"/>
          <p:cNvSpPr txBox="1"/>
          <p:nvPr/>
        </p:nvSpPr>
        <p:spPr>
          <a:xfrm>
            <a:off x="1143000" y="4095750"/>
            <a:ext cx="4572000" cy="163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0">
                <a:solidFill>
                  <a:srgbClr val="FFFCF6"/>
                </a:solidFill>
                <a:latin typeface="Noto Serif SC Bold"/>
                <a:ea typeface="Noto Serif SC Bold"/>
                <a:cs typeface="Noto Serif SC Bold"/>
              </a:rPr>
              <a:t>麦屿手作</a:t>
            </a:r>
            <a:endParaRPr lang="zh-CN" sz="9000">
              <a:solidFill>
                <a:srgbClr val="FFFCF6"/>
              </a:solidFill>
              <a:latin typeface="Noto Serif SC Bold"/>
              <a:ea typeface="Noto Serif SC Bold"/>
              <a:cs typeface="Noto Serif SC Bold"/>
            </a:endParaRPr>
          </a:p>
        </p:txBody>
      </p:sp>
      <p:sp>
        <p:nvSpPr>
          <p:cNvPr id="5" name="TextBox"/>
          <p:cNvSpPr txBox="1"/>
          <p:nvPr/>
        </p:nvSpPr>
        <p:spPr>
          <a:xfrm>
            <a:off x="1143000" y="6191250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3000">
                <a:solidFill>
                  <a:srgbClr val="F0E1B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品牌官网与后台管理系统项目汇报</a:t>
            </a:r>
            <a:endParaRPr lang="zh-CN" sz="3000">
              <a:solidFill>
                <a:srgbClr val="F0E1B9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6" name="TextBox"/>
          <p:cNvSpPr txBox="1"/>
          <p:nvPr/>
        </p:nvSpPr>
        <p:spPr>
          <a:xfrm>
            <a:off x="1143000" y="8572500"/>
            <a:ext cx="784974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 spc="12">
                <a:solidFill>
                  <a:srgbClr val="FFFCF6">
                    <a:alpha val="70000"/>
                  </a:srgbClr>
                </a:solidFill>
                <a:latin typeface="Cormorant Garamond"/>
                <a:ea typeface="Cormorant Garamond"/>
                <a:cs typeface="Cormorant Garamond"/>
              </a:rPr>
              <a:t>2026.08.28</a:t>
            </a:r>
            <a:endParaRPr lang="zh-CN" altLang="en-US" sz="2100" spc="12">
              <a:solidFill>
                <a:srgbClr val="FFFCF6">
                  <a:alpha val="70000"/>
                </a:srgbClr>
              </a:solidFill>
              <a:latin typeface="Cormorant Garamond"/>
              <a:ea typeface="宋体" panose="02010600030101010101" pitchFamily="2" charset="-122"/>
              <a:cs typeface="Cormorant Garamond"/>
            </a:endParaRPr>
          </a:p>
        </p:txBody>
      </p:sp>
      <p:sp>
        <p:nvSpPr>
          <p:cNvPr id="7" name="Rectangle"/>
          <p:cNvSpPr/>
          <p:nvPr/>
        </p:nvSpPr>
        <p:spPr>
          <a:xfrm>
            <a:off x="13335000" y="1905000"/>
            <a:ext cx="3810000" cy="3810000"/>
          </a:xfrm>
          <a:prstGeom prst="roundRect">
            <a:avLst>
              <a:gd name="adj" fmla="val 50000"/>
            </a:avLst>
          </a:prstGeom>
          <a:solidFill>
            <a:srgbClr val="F0E1B9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12382500" y="6667500"/>
            <a:ext cx="4762500" cy="76200"/>
          </a:xfrm>
          <a:prstGeom prst="roundRect">
            <a:avLst>
              <a:gd name="adj" fmla="val 50000"/>
            </a:avLst>
          </a:prstGeom>
          <a:solidFill>
            <a:srgbClr val="F0E1B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1619250" y="63817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0E1B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文本框 9"/>
          <p:cNvSpPr txBox="1"/>
          <p:nvPr/>
        </p:nvSpPr>
        <p:spPr>
          <a:xfrm>
            <a:off x="12396470" y="8361680"/>
            <a:ext cx="4748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汇报人：肖楚婷</a:t>
            </a:r>
            <a:endParaRPr lang="zh-CN" altLang="en-US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8F3EA"/>
              </a:gs>
              <a:gs pos="100000">
                <a:srgbClr val="FBF7F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333500"/>
            <a:ext cx="304800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6000">
                <a:solidFill>
                  <a:srgbClr val="3F2E1F"/>
                </a:solidFill>
                <a:latin typeface="Noto Serif SC Bold"/>
                <a:ea typeface="Noto Serif SC Bold"/>
                <a:cs typeface="Noto Serif SC Bold"/>
              </a:rPr>
              <a:t>汇报议程</a:t>
            </a:r>
            <a:endParaRPr lang="zh-CN" sz="6000">
              <a:solidFill>
                <a:srgbClr val="3F2E1F"/>
              </a:solidFill>
              <a:latin typeface="Noto Serif SC Bold"/>
              <a:ea typeface="Noto Serif SC Bold"/>
              <a:cs typeface="Noto Serif SC Bold"/>
            </a:endParaRPr>
          </a:p>
        </p:txBody>
      </p:sp>
      <p:sp>
        <p:nvSpPr>
          <p:cNvPr id="4" name="TextBox"/>
          <p:cNvSpPr txBox="1"/>
          <p:nvPr/>
        </p:nvSpPr>
        <p:spPr>
          <a:xfrm>
            <a:off x="1143000" y="952500"/>
            <a:ext cx="831799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24">
                <a:solidFill>
                  <a:srgbClr val="8B6F52"/>
                </a:solidFill>
                <a:latin typeface="Cormorant Garamond Italic"/>
                <a:ea typeface="Cormorant Garamond Italic"/>
                <a:cs typeface="Cormorant Garamond Italic"/>
              </a:rPr>
              <a:t>AGENDA</a:t>
            </a:r>
            <a:endParaRPr lang="en-US" sz="1800" spc="24">
              <a:solidFill>
                <a:srgbClr val="8B6F52"/>
              </a:solidFill>
              <a:latin typeface="Cormorant Garamond Italic"/>
              <a:ea typeface="Cormorant Garamond Italic"/>
              <a:cs typeface="Cormorant Garamond Italic"/>
            </a:endParaRPr>
          </a:p>
        </p:txBody>
      </p:sp>
      <p:sp>
        <p:nvSpPr>
          <p:cNvPr id="5" name="TextBox"/>
          <p:cNvSpPr txBox="1"/>
          <p:nvPr/>
        </p:nvSpPr>
        <p:spPr>
          <a:xfrm>
            <a:off x="1143000" y="3248025"/>
            <a:ext cx="493166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800">
                <a:solidFill>
                  <a:srgbClr val="C6B291"/>
                </a:solidFill>
                <a:latin typeface="Cormorant Garamond Bold"/>
                <a:ea typeface="Cormorant Garamond Bold"/>
                <a:cs typeface="Cormorant Garamond Bold"/>
              </a:rPr>
              <a:t>01</a:t>
            </a:r>
            <a:endParaRPr lang="en-US" sz="4800">
              <a:solidFill>
                <a:srgbClr val="C6B291"/>
              </a:solidFill>
              <a:latin typeface="Cormorant Garamond Bold"/>
              <a:ea typeface="Cormorant Garamond Bold"/>
              <a:cs typeface="Cormorant Garamond Bold"/>
            </a:endParaRPr>
          </a:p>
        </p:txBody>
      </p:sp>
      <p:sp>
        <p:nvSpPr>
          <p:cNvPr id="6" name="TextBox"/>
          <p:cNvSpPr txBox="1"/>
          <p:nvPr/>
        </p:nvSpPr>
        <p:spPr>
          <a:xfrm>
            <a:off x="1943100" y="3352800"/>
            <a:ext cx="3429000" cy="542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3000">
                <a:solidFill>
                  <a:srgbClr val="3F2E1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项目背景与开发目的</a:t>
            </a:r>
            <a:endParaRPr lang="zh-CN" sz="3000">
              <a:solidFill>
                <a:srgbClr val="3F2E1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7" name="TextBox"/>
          <p:cNvSpPr txBox="1"/>
          <p:nvPr/>
        </p:nvSpPr>
        <p:spPr>
          <a:xfrm>
            <a:off x="1143000" y="4676775"/>
            <a:ext cx="535838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800">
                <a:solidFill>
                  <a:srgbClr val="C6B291"/>
                </a:solidFill>
                <a:latin typeface="Cormorant Garamond Bold"/>
                <a:ea typeface="Cormorant Garamond Bold"/>
                <a:cs typeface="Cormorant Garamond Bold"/>
              </a:rPr>
              <a:t>02</a:t>
            </a:r>
            <a:endParaRPr lang="en-US" sz="4800">
              <a:solidFill>
                <a:srgbClr val="C6B291"/>
              </a:solidFill>
              <a:latin typeface="Cormorant Garamond Bold"/>
              <a:ea typeface="Cormorant Garamond Bold"/>
              <a:cs typeface="Cormorant Garamond Bold"/>
            </a:endParaRPr>
          </a:p>
        </p:txBody>
      </p:sp>
      <p:sp>
        <p:nvSpPr>
          <p:cNvPr id="8" name="TextBox"/>
          <p:cNvSpPr txBox="1"/>
          <p:nvPr/>
        </p:nvSpPr>
        <p:spPr>
          <a:xfrm>
            <a:off x="1974850" y="4777105"/>
            <a:ext cx="3830955" cy="542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3000">
                <a:solidFill>
                  <a:srgbClr val="3F2E1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WorkBuddy</a:t>
            </a:r>
            <a:r>
              <a:rPr lang="zh-CN" altLang="en-US" sz="3000">
                <a:solidFill>
                  <a:srgbClr val="3F2E1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需求处理</a:t>
            </a:r>
            <a:r>
              <a:rPr lang="en-US" sz="3000">
                <a:solidFill>
                  <a:srgbClr val="3F2E1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 </a:t>
            </a:r>
            <a:endParaRPr lang="en-US" sz="3000">
              <a:solidFill>
                <a:srgbClr val="3F2E1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9" name="TextBox"/>
          <p:cNvSpPr txBox="1"/>
          <p:nvPr/>
        </p:nvSpPr>
        <p:spPr>
          <a:xfrm>
            <a:off x="1143000" y="6105525"/>
            <a:ext cx="530962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800">
                <a:solidFill>
                  <a:srgbClr val="C6B291"/>
                </a:solidFill>
                <a:latin typeface="Cormorant Garamond Bold"/>
                <a:ea typeface="Cormorant Garamond Bold"/>
                <a:cs typeface="Cormorant Garamond Bold"/>
              </a:rPr>
              <a:t>03</a:t>
            </a:r>
            <a:endParaRPr lang="en-US" sz="4800">
              <a:solidFill>
                <a:srgbClr val="C6B291"/>
              </a:solidFill>
              <a:latin typeface="Cormorant Garamond Bold"/>
              <a:ea typeface="Cormorant Garamond Bold"/>
              <a:cs typeface="Cormorant Garamond Bold"/>
            </a:endParaRPr>
          </a:p>
        </p:txBody>
      </p:sp>
      <p:sp>
        <p:nvSpPr>
          <p:cNvPr id="10" name="TextBox"/>
          <p:cNvSpPr txBox="1"/>
          <p:nvPr/>
        </p:nvSpPr>
        <p:spPr>
          <a:xfrm>
            <a:off x="1981200" y="6210300"/>
            <a:ext cx="2286000" cy="542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3000">
                <a:solidFill>
                  <a:srgbClr val="3F2E1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项目效果展示</a:t>
            </a:r>
            <a:endParaRPr lang="zh-CN" sz="3000">
              <a:solidFill>
                <a:srgbClr val="3F2E1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11" name="TextBox"/>
          <p:cNvSpPr txBox="1"/>
          <p:nvPr/>
        </p:nvSpPr>
        <p:spPr>
          <a:xfrm>
            <a:off x="1143000" y="7534275"/>
            <a:ext cx="568757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800">
                <a:solidFill>
                  <a:srgbClr val="C6B291"/>
                </a:solidFill>
                <a:latin typeface="Cormorant Garamond Bold"/>
                <a:ea typeface="Cormorant Garamond Bold"/>
                <a:cs typeface="Cormorant Garamond Bold"/>
              </a:rPr>
              <a:t>04</a:t>
            </a:r>
            <a:endParaRPr lang="en-US" sz="4800">
              <a:solidFill>
                <a:srgbClr val="C6B291"/>
              </a:solidFill>
              <a:latin typeface="Cormorant Garamond Bold"/>
              <a:ea typeface="Cormorant Garamond Bold"/>
              <a:cs typeface="Cormorant Garamond Bold"/>
            </a:endParaRPr>
          </a:p>
        </p:txBody>
      </p:sp>
      <p:sp>
        <p:nvSpPr>
          <p:cNvPr id="12" name="TextBox"/>
          <p:cNvSpPr txBox="1"/>
          <p:nvPr/>
        </p:nvSpPr>
        <p:spPr>
          <a:xfrm>
            <a:off x="2019300" y="7639050"/>
            <a:ext cx="2286000" cy="542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3000">
                <a:solidFill>
                  <a:srgbClr val="3F2E1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项目心得总结</a:t>
            </a:r>
            <a:endParaRPr lang="zh-CN" sz="3000">
              <a:solidFill>
                <a:srgbClr val="3F2E1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8F3EA"/>
              </a:gs>
              <a:gs pos="100000">
                <a:srgbClr val="FBF7F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52500"/>
            <a:ext cx="1865529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24">
                <a:solidFill>
                  <a:srgbClr val="8B6F52"/>
                </a:solidFill>
                <a:latin typeface="Cormorant Garamond Italic"/>
                <a:ea typeface="Cormorant Garamond Italic"/>
                <a:cs typeface="Cormorant Garamond Italic"/>
              </a:rPr>
              <a:t>PROJECT CONTEXT</a:t>
            </a:r>
            <a:endParaRPr lang="en-US" sz="1800" spc="24">
              <a:solidFill>
                <a:srgbClr val="8B6F52"/>
              </a:solidFill>
              <a:latin typeface="Cormorant Garamond Italic"/>
              <a:ea typeface="Cormorant Garamond Italic"/>
              <a:cs typeface="Cormorant Garamond Italic"/>
            </a:endParaRPr>
          </a:p>
        </p:txBody>
      </p:sp>
      <p:sp>
        <p:nvSpPr>
          <p:cNvPr id="4" name="TextBox"/>
          <p:cNvSpPr txBox="1"/>
          <p:nvPr/>
        </p:nvSpPr>
        <p:spPr>
          <a:xfrm>
            <a:off x="1143000" y="1524000"/>
            <a:ext cx="5486400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400"/>
              </a:lnSpc>
            </a:pPr>
            <a:r>
              <a:rPr lang="zh-CN" sz="4800">
                <a:solidFill>
                  <a:srgbClr val="3F2E1F"/>
                </a:solidFill>
                <a:latin typeface="Noto Serif SC Bold"/>
                <a:ea typeface="Noto Serif SC Bold"/>
                <a:cs typeface="Noto Serif SC Bold"/>
              </a:rPr>
              <a:t>项目背景与开发目的</a:t>
            </a:r>
            <a:endParaRPr lang="zh-CN" sz="4800">
              <a:solidFill>
                <a:srgbClr val="3F2E1F"/>
              </a:solidFill>
              <a:latin typeface="Noto Serif SC Bold"/>
              <a:ea typeface="Noto Serif SC Bold"/>
              <a:cs typeface="Noto Serif SC Bold"/>
            </a:endParaRPr>
          </a:p>
        </p:txBody>
      </p:sp>
      <p:sp>
        <p:nvSpPr>
          <p:cNvPr id="5" name="TextBox"/>
          <p:cNvSpPr txBox="1"/>
          <p:nvPr/>
        </p:nvSpPr>
        <p:spPr>
          <a:xfrm>
            <a:off x="1143000" y="2432685"/>
            <a:ext cx="8171180" cy="21393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>
              <a:lnSpc>
                <a:spcPts val="3000"/>
              </a:lnSpc>
            </a:pPr>
            <a:r>
              <a:rPr lang="zh-CN" sz="2400">
                <a:solidFill>
                  <a:srgbClr val="6B5A4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项目背景：</a:t>
            </a:r>
            <a:endParaRPr lang="zh-CN" sz="2400">
              <a:solidFill>
                <a:srgbClr val="6B5A4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  <a:p>
            <a:pPr algn="l">
              <a:lnSpc>
                <a:spcPts val="3000"/>
              </a:lnSpc>
            </a:pPr>
            <a:r>
              <a:rPr lang="zh-CN" sz="2400">
                <a:solidFill>
                  <a:srgbClr val="6B5A4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      麦屿手作是一个主打手作烘焙的品牌，线下门店已积累一</a:t>
            </a:r>
            <a:endParaRPr lang="zh-CN" sz="2400">
              <a:solidFill>
                <a:srgbClr val="6B5A4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  <a:p>
            <a:pPr algn="l">
              <a:lnSpc>
                <a:spcPts val="3000"/>
              </a:lnSpc>
            </a:pPr>
            <a:r>
              <a:rPr lang="zh-CN" sz="2400">
                <a:solidFill>
                  <a:srgbClr val="6B5A4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定口碑，但始终缺少统一的线上门户。顾客想了解产品、查</a:t>
            </a:r>
            <a:endParaRPr lang="zh-CN" sz="2400">
              <a:solidFill>
                <a:srgbClr val="6B5A4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  <a:p>
            <a:pPr algn="l">
              <a:lnSpc>
                <a:spcPts val="3000"/>
              </a:lnSpc>
            </a:pPr>
            <a:r>
              <a:rPr lang="zh-CN" sz="2400">
                <a:solidFill>
                  <a:srgbClr val="6B5A4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找门店或留言咨询时，只能依赖分散的社交平台，体验割裂。</a:t>
            </a:r>
            <a:endParaRPr lang="zh-CN" sz="2400">
              <a:solidFill>
                <a:srgbClr val="6B5A4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  <a:p>
            <a:pPr algn="l">
              <a:lnSpc>
                <a:spcPts val="3000"/>
              </a:lnSpc>
            </a:pPr>
            <a:r>
              <a:rPr lang="zh-CN" sz="2400">
                <a:solidFill>
                  <a:srgbClr val="6B5A4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为帮品牌建立专业线上形象、打通"展示—运营"全链路，我们</a:t>
            </a:r>
            <a:endParaRPr lang="zh-CN" sz="2400">
              <a:solidFill>
                <a:srgbClr val="6B5A4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  <a:p>
            <a:pPr algn="l">
              <a:lnSpc>
                <a:spcPts val="3000"/>
              </a:lnSpc>
            </a:pPr>
            <a:r>
              <a:rPr lang="zh-CN" sz="2400">
                <a:solidFill>
                  <a:srgbClr val="6B5A4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启动了官网与后台管理系统的开发，推进品牌数字化升级。</a:t>
            </a:r>
            <a:endParaRPr lang="zh-CN" sz="2400">
              <a:solidFill>
                <a:srgbClr val="6B5A4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9" name="Rectangle"/>
          <p:cNvSpPr/>
          <p:nvPr/>
        </p:nvSpPr>
        <p:spPr>
          <a:xfrm>
            <a:off x="9525000" y="1714500"/>
            <a:ext cx="7620000" cy="6858000"/>
          </a:xfrm>
          <a:prstGeom prst="roundRect">
            <a:avLst>
              <a:gd name="adj" fmla="val 1944"/>
            </a:avLst>
          </a:prstGeom>
          <a:solidFill>
            <a:srgbClr val="F0E1B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9843770" y="45720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3600">
                <a:solidFill>
                  <a:srgbClr val="6B5238"/>
                </a:solidFill>
                <a:latin typeface="Cormorant Garamond Bold Italic"/>
                <a:ea typeface="Cormorant Garamond Bold Italic"/>
                <a:cs typeface="Cormorant Garamond Bold Italic"/>
              </a:rPr>
              <a:t>Mai-Isle</a:t>
            </a:r>
            <a:br>
              <a:rPr lang="en-US" sz="3600">
                <a:latin typeface="Cormorant Garamond Bold Italic"/>
                <a:ea typeface="Cormorant Garamond Bold Italic"/>
                <a:cs typeface="Cormorant Garamond Bold Italic"/>
              </a:rPr>
            </a:br>
            <a:r>
              <a:rPr lang="en-US" sz="3600">
                <a:solidFill>
                  <a:srgbClr val="6B5238"/>
                </a:solidFill>
                <a:latin typeface="Cormorant Garamond Bold Italic"/>
                <a:ea typeface="Cormorant Garamond Bold Italic"/>
                <a:cs typeface="Cormorant Garamond Bold Italic"/>
              </a:rPr>
              <a:t>Brand System</a:t>
            </a:r>
            <a:endParaRPr lang="en-US" sz="3600">
              <a:solidFill>
                <a:srgbClr val="6B5238"/>
              </a:solidFill>
              <a:latin typeface="Cormorant Garamond Bold Italic"/>
              <a:ea typeface="Cormorant Garamond Bold Italic"/>
              <a:cs typeface="Cormorant Garamond Bold Italic"/>
            </a:endParaRPr>
          </a:p>
        </p:txBody>
      </p:sp>
      <p:sp>
        <p:nvSpPr>
          <p:cNvPr id="11" name="Rectangle"/>
          <p:cNvSpPr/>
          <p:nvPr/>
        </p:nvSpPr>
        <p:spPr>
          <a:xfrm>
            <a:off x="1143000" y="78105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C6B29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1466850" y="7839075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C6B29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文本框 12"/>
          <p:cNvSpPr txBox="1"/>
          <p:nvPr/>
        </p:nvSpPr>
        <p:spPr>
          <a:xfrm>
            <a:off x="1143000" y="5385435"/>
            <a:ext cx="823785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C00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开发目的：</a:t>
            </a:r>
            <a:endParaRPr lang="zh-CN" altLang="en-US" sz="2400">
              <a:solidFill>
                <a:srgbClr val="FFC00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  <a:p>
            <a:r>
              <a:rPr lang="zh-CN" altLang="en-US" sz="2400">
                <a:solidFill>
                  <a:srgbClr val="FFC00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      本项目的开发目的，是用统一的设计与技术方案，同步交付品牌官网与运营后台。前台以清晰叙事与产品展示提升用户信任与转化；后台让运营人员自助维护商品、订单与内容，降低对技术的依赖。整体验证"轻代码加 AI 协作"的落地路径，为小微品牌提供可复用的数字化模板与参考。</a:t>
            </a:r>
            <a:endParaRPr lang="zh-CN" altLang="en-US" sz="2400">
              <a:solidFill>
                <a:srgbClr val="FFC00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pic>
        <p:nvPicPr>
          <p:cNvPr id="14" name="图片 13" descr="首页图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635" y="1689735"/>
            <a:ext cx="7619365" cy="68827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8F3EA"/>
              </a:gs>
              <a:gs pos="100000">
                <a:srgbClr val="FBF7F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"/>
          <p:cNvPicPr>
            <a:picLocks noChangeAspect="1"/>
          </p:cNvPicPr>
          <p:nvPr/>
        </p:nvPicPr>
        <p:blipFill>
          <a:blip r:embed="rId1"/>
          <a:srcRect l="4465" r="4465"/>
          <a:stretch>
            <a:fillRect/>
          </a:stretch>
        </p:blipFill>
        <p:spPr>
          <a:xfrm>
            <a:off x="1143000" y="1333500"/>
            <a:ext cx="9525000" cy="7620000"/>
          </a:xfrm>
          <a:prstGeom prst="rect">
            <a:avLst/>
          </a:prstGeom>
        </p:spPr>
      </p:pic>
      <p:sp>
        <p:nvSpPr>
          <p:cNvPr id="4" name="TextBox"/>
          <p:cNvSpPr txBox="1"/>
          <p:nvPr/>
        </p:nvSpPr>
        <p:spPr>
          <a:xfrm>
            <a:off x="11239500" y="2095500"/>
            <a:ext cx="3054401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24">
                <a:solidFill>
                  <a:srgbClr val="8B6F52"/>
                </a:solidFill>
                <a:latin typeface="Cormorant Garamond Italic"/>
                <a:ea typeface="Cormorant Garamond Italic"/>
                <a:cs typeface="Cormorant Garamond Italic"/>
              </a:rPr>
              <a:t>WORKBUDDY COLLABORATION</a:t>
            </a:r>
            <a:endParaRPr lang="en-US" sz="1800" spc="24">
              <a:solidFill>
                <a:srgbClr val="8B6F52"/>
              </a:solidFill>
              <a:latin typeface="Cormorant Garamond Italic"/>
              <a:ea typeface="Cormorant Garamond Italic"/>
              <a:cs typeface="Cormorant Garamond Italic"/>
            </a:endParaRPr>
          </a:p>
        </p:txBody>
      </p:sp>
      <p:sp>
        <p:nvSpPr>
          <p:cNvPr id="5" name="TextBox"/>
          <p:cNvSpPr txBox="1"/>
          <p:nvPr/>
        </p:nvSpPr>
        <p:spPr>
          <a:xfrm>
            <a:off x="11239500" y="2571750"/>
            <a:ext cx="4267200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4800"/>
              </a:lnSpc>
            </a:pPr>
            <a:r>
              <a:rPr lang="zh-CN" sz="4200">
                <a:solidFill>
                  <a:srgbClr val="3F2E1F"/>
                </a:solidFill>
                <a:latin typeface="Noto Serif SC Bold"/>
                <a:ea typeface="Noto Serif SC Bold"/>
                <a:cs typeface="Noto Serif SC Bold"/>
              </a:rPr>
              <a:t>精准定位问题根因</a:t>
            </a:r>
            <a:endParaRPr lang="zh-CN" sz="4200">
              <a:solidFill>
                <a:srgbClr val="3F2E1F"/>
              </a:solidFill>
              <a:latin typeface="Noto Serif SC Bold"/>
              <a:ea typeface="Noto Serif SC Bold"/>
              <a:cs typeface="Noto Serif SC Bold"/>
            </a:endParaRPr>
          </a:p>
        </p:txBody>
      </p:sp>
      <p:sp>
        <p:nvSpPr>
          <p:cNvPr id="9" name="Rectangle"/>
          <p:cNvSpPr/>
          <p:nvPr/>
        </p:nvSpPr>
        <p:spPr>
          <a:xfrm>
            <a:off x="11239500" y="6667500"/>
            <a:ext cx="1714500" cy="495300"/>
          </a:xfrm>
          <a:prstGeom prst="roundRect">
            <a:avLst>
              <a:gd name="adj" fmla="val 50000"/>
            </a:avLst>
          </a:prstGeom>
          <a:solidFill>
            <a:srgbClr val="F0E1B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11352070" y="6781800"/>
            <a:ext cx="148936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6B5238"/>
                </a:solidFill>
                <a:latin typeface="Inter Bold"/>
                <a:ea typeface="Inter Bold"/>
                <a:cs typeface="Inter Bold"/>
              </a:rPr>
              <a:t>BUG-001/002</a:t>
            </a:r>
            <a:endParaRPr lang="en-US" sz="1800">
              <a:solidFill>
                <a:srgbClr val="6B5238"/>
              </a:solidFill>
              <a:latin typeface="Inter Bold"/>
              <a:ea typeface="Inter Bold"/>
              <a:cs typeface="Inter Bold"/>
            </a:endParaRPr>
          </a:p>
        </p:txBody>
      </p:sp>
      <p:sp>
        <p:nvSpPr>
          <p:cNvPr id="11" name="Rectangle"/>
          <p:cNvSpPr/>
          <p:nvPr/>
        </p:nvSpPr>
        <p:spPr>
          <a:xfrm>
            <a:off x="11239500" y="6286500"/>
            <a:ext cx="762000" cy="57150"/>
          </a:xfrm>
          <a:prstGeom prst="roundRect">
            <a:avLst>
              <a:gd name="adj" fmla="val 50000"/>
            </a:avLst>
          </a:prstGeom>
          <a:solidFill>
            <a:srgbClr val="C6B29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239500" y="3599815"/>
            <a:ext cx="665924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     </a:t>
            </a:r>
            <a:r>
              <a:rPr lang="zh-CN" altLang="en-US" sz="2800"/>
              <a:t>在开发过程中遇到了两个典型问题。一是在线留言的错误提示重复堆叠；二是列表排序失效。通过和 WorkBuddy 协作排查，我们定位到：两类问题都源于前端实现偏离了原型规范。</a:t>
            </a:r>
            <a:endParaRPr lang="zh-CN" altLang="en-US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8F3EA"/>
              </a:gs>
              <a:gs pos="100000">
                <a:srgbClr val="FBF7F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"/>
          <p:cNvPicPr>
            <a:picLocks noChangeAspect="1"/>
          </p:cNvPicPr>
          <p:nvPr/>
        </p:nvPicPr>
        <p:blipFill>
          <a:blip r:embed="rId1"/>
          <a:srcRect l="5757" r="5757"/>
          <a:stretch>
            <a:fillRect/>
          </a:stretch>
        </p:blipFill>
        <p:spPr>
          <a:xfrm>
            <a:off x="1143000" y="1333500"/>
            <a:ext cx="9525000" cy="7620000"/>
          </a:xfrm>
          <a:prstGeom prst="rect">
            <a:avLst/>
          </a:prstGeom>
        </p:spPr>
      </p:pic>
      <p:sp>
        <p:nvSpPr>
          <p:cNvPr id="4" name="TextBox"/>
          <p:cNvSpPr txBox="1"/>
          <p:nvPr/>
        </p:nvSpPr>
        <p:spPr>
          <a:xfrm>
            <a:off x="11239500" y="1714500"/>
            <a:ext cx="3054401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24">
                <a:solidFill>
                  <a:srgbClr val="8B6F52"/>
                </a:solidFill>
                <a:latin typeface="Cormorant Garamond Italic"/>
                <a:ea typeface="Cormorant Garamond Italic"/>
                <a:cs typeface="Cormorant Garamond Italic"/>
              </a:rPr>
              <a:t>WORKBUDDY COLLABORATION</a:t>
            </a:r>
            <a:endParaRPr lang="en-US" sz="1800" spc="24">
              <a:solidFill>
                <a:srgbClr val="8B6F52"/>
              </a:solidFill>
              <a:latin typeface="Cormorant Garamond Italic"/>
              <a:ea typeface="Cormorant Garamond Italic"/>
              <a:cs typeface="Cormorant Garamond Italic"/>
            </a:endParaRPr>
          </a:p>
        </p:txBody>
      </p:sp>
      <p:sp>
        <p:nvSpPr>
          <p:cNvPr id="5" name="TextBox"/>
          <p:cNvSpPr txBox="1"/>
          <p:nvPr/>
        </p:nvSpPr>
        <p:spPr>
          <a:xfrm>
            <a:off x="11239500" y="2190750"/>
            <a:ext cx="4800600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4800"/>
              </a:lnSpc>
            </a:pPr>
            <a:r>
              <a:rPr lang="zh-CN" sz="4200">
                <a:solidFill>
                  <a:srgbClr val="3F2E1F"/>
                </a:solidFill>
                <a:latin typeface="Noto Serif SC Bold"/>
                <a:ea typeface="Noto Serif SC Bold"/>
                <a:cs typeface="Noto Serif SC Bold"/>
              </a:rPr>
              <a:t>方案迭代与高效执行</a:t>
            </a:r>
            <a:endParaRPr lang="zh-CN" sz="4200">
              <a:solidFill>
                <a:srgbClr val="3F2E1F"/>
              </a:solidFill>
              <a:latin typeface="Noto Serif SC Bold"/>
              <a:ea typeface="Noto Serif SC Bold"/>
              <a:cs typeface="Noto Serif SC Bold"/>
            </a:endParaRPr>
          </a:p>
        </p:txBody>
      </p:sp>
      <p:sp>
        <p:nvSpPr>
          <p:cNvPr id="9" name="Rectangle"/>
          <p:cNvSpPr/>
          <p:nvPr/>
        </p:nvSpPr>
        <p:spPr>
          <a:xfrm>
            <a:off x="11239500" y="7670800"/>
            <a:ext cx="2095500" cy="495300"/>
          </a:xfrm>
          <a:prstGeom prst="roundRect">
            <a:avLst>
              <a:gd name="adj" fmla="val 50000"/>
            </a:avLst>
          </a:prstGeom>
          <a:solidFill>
            <a:srgbClr val="F0E1B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11627807" y="7785100"/>
            <a:ext cx="109790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6B5238"/>
                </a:solidFill>
                <a:latin typeface="Inter Bold"/>
                <a:ea typeface="Inter Bold"/>
                <a:cs typeface="Inter Bold"/>
              </a:rPr>
              <a:t>v1.0 → v1.1</a:t>
            </a:r>
            <a:endParaRPr lang="en-US" sz="1800">
              <a:solidFill>
                <a:srgbClr val="6B5238"/>
              </a:solidFill>
              <a:latin typeface="Inter Bold"/>
              <a:ea typeface="Inter Bold"/>
              <a:cs typeface="Inter Bold"/>
            </a:endParaRPr>
          </a:p>
        </p:txBody>
      </p:sp>
      <p:sp>
        <p:nvSpPr>
          <p:cNvPr id="11" name="Rectangle"/>
          <p:cNvSpPr/>
          <p:nvPr/>
        </p:nvSpPr>
        <p:spPr>
          <a:xfrm>
            <a:off x="11239500" y="7193280"/>
            <a:ext cx="762000" cy="57150"/>
          </a:xfrm>
          <a:prstGeom prst="roundRect">
            <a:avLst>
              <a:gd name="adj" fmla="val 50000"/>
            </a:avLst>
          </a:prstGeom>
          <a:solidFill>
            <a:srgbClr val="C6B29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220450" y="3336290"/>
            <a:ext cx="6714490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        </a:t>
            </a:r>
            <a:r>
              <a:rPr lang="zh-CN" altLang="en-US" sz="2800"/>
              <a:t>定位问题后，我们把开发实施方案从 v1.0 升级到了 v1.1，新增了 BUG-001、002 的复发风险和强制规避项——相当于给后面的人立了一道护栏。同时，WorkBuddy 还帮我直接完成了 LOGO 替换、品牌配图和门店图的生成，并写进后台。从诊断到执行，基本是闭环完成的。</a:t>
            </a:r>
            <a:endParaRPr lang="zh-CN" altLang="en-US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8F3EA"/>
              </a:gs>
              <a:gs pos="100000">
                <a:srgbClr val="FBF7F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"/>
          <p:cNvPicPr>
            <a:picLocks noChangeAspect="1"/>
          </p:cNvPicPr>
          <p:nvPr/>
        </p:nvPicPr>
        <p:blipFill>
          <a:blip r:embed="rId1"/>
          <a:srcRect l="16650" r="16650"/>
          <a:stretch>
            <a:fillRect/>
          </a:stretch>
        </p:blipFill>
        <p:spPr>
          <a:xfrm>
            <a:off x="7239000" y="1143000"/>
            <a:ext cx="9906000" cy="8001000"/>
          </a:xfrm>
          <a:prstGeom prst="rect">
            <a:avLst/>
          </a:prstGeom>
        </p:spPr>
      </p:pic>
      <p:sp>
        <p:nvSpPr>
          <p:cNvPr id="4" name="TextBox"/>
          <p:cNvSpPr txBox="1"/>
          <p:nvPr/>
        </p:nvSpPr>
        <p:spPr>
          <a:xfrm>
            <a:off x="1143000" y="1714500"/>
            <a:ext cx="144239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24">
                <a:solidFill>
                  <a:srgbClr val="8B6F52"/>
                </a:solidFill>
                <a:latin typeface="Cormorant Garamond Italic"/>
                <a:ea typeface="Cormorant Garamond Italic"/>
                <a:cs typeface="Cormorant Garamond Italic"/>
              </a:rPr>
              <a:t>FRONT OFFICE</a:t>
            </a:r>
            <a:endParaRPr lang="en-US" sz="1800" spc="24">
              <a:solidFill>
                <a:srgbClr val="8B6F52"/>
              </a:solidFill>
              <a:latin typeface="Cormorant Garamond Italic"/>
              <a:ea typeface="Cormorant Garamond Italic"/>
              <a:cs typeface="Cormorant Garamond Italic"/>
            </a:endParaRPr>
          </a:p>
        </p:txBody>
      </p:sp>
      <p:sp>
        <p:nvSpPr>
          <p:cNvPr id="5" name="TextBox"/>
          <p:cNvSpPr txBox="1"/>
          <p:nvPr/>
        </p:nvSpPr>
        <p:spPr>
          <a:xfrm>
            <a:off x="1143000" y="2190750"/>
            <a:ext cx="3200400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4800"/>
              </a:lnSpc>
            </a:pPr>
            <a:r>
              <a:rPr lang="zh-CN" sz="4200">
                <a:solidFill>
                  <a:srgbClr val="3F2E1F"/>
                </a:solidFill>
                <a:latin typeface="Noto Serif SC Bold"/>
                <a:ea typeface="Noto Serif SC Bold"/>
                <a:cs typeface="Noto Serif SC Bold"/>
              </a:rPr>
              <a:t>视觉驱动转化</a:t>
            </a:r>
            <a:endParaRPr lang="zh-CN" sz="4200">
              <a:solidFill>
                <a:srgbClr val="3F2E1F"/>
              </a:solidFill>
              <a:latin typeface="Noto Serif SC Bold"/>
              <a:ea typeface="Noto Serif SC Bold"/>
              <a:cs typeface="Noto Serif SC Bold"/>
            </a:endParaRPr>
          </a:p>
        </p:txBody>
      </p:sp>
      <p:sp>
        <p:nvSpPr>
          <p:cNvPr id="6" name="TextBox"/>
          <p:cNvSpPr txBox="1"/>
          <p:nvPr/>
        </p:nvSpPr>
        <p:spPr>
          <a:xfrm>
            <a:off x="1143000" y="3810000"/>
            <a:ext cx="51816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400">
                <a:solidFill>
                  <a:srgbClr val="6B5A4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蛋糕展示支持左侧分类筛选与多维排序</a:t>
            </a:r>
            <a:endParaRPr lang="zh-CN" sz="2400">
              <a:solidFill>
                <a:srgbClr val="6B5A4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7" name="TextBox"/>
          <p:cNvSpPr txBox="1"/>
          <p:nvPr/>
        </p:nvSpPr>
        <p:spPr>
          <a:xfrm>
            <a:off x="1143000" y="4762500"/>
            <a:ext cx="518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400">
                <a:solidFill>
                  <a:srgbClr val="6B5A4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卡片式网格呈现价格、系列与高清产品图</a:t>
            </a:r>
            <a:endParaRPr lang="zh-CN" sz="2400">
              <a:solidFill>
                <a:srgbClr val="6B5A4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8" name="TextBox"/>
          <p:cNvSpPr txBox="1"/>
          <p:nvPr/>
        </p:nvSpPr>
        <p:spPr>
          <a:xfrm>
            <a:off x="1143000" y="5715000"/>
            <a:ext cx="51816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400">
                <a:solidFill>
                  <a:srgbClr val="6B5A4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延续品牌暖米底色，突出产品本身质感</a:t>
            </a:r>
            <a:endParaRPr lang="zh-CN" sz="2400">
              <a:solidFill>
                <a:srgbClr val="6B5A4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9" name="Rectangle"/>
          <p:cNvSpPr/>
          <p:nvPr/>
        </p:nvSpPr>
        <p:spPr>
          <a:xfrm>
            <a:off x="1143000" y="7048500"/>
            <a:ext cx="1524000" cy="495300"/>
          </a:xfrm>
          <a:prstGeom prst="roundRect">
            <a:avLst>
              <a:gd name="adj" fmla="val 50000"/>
            </a:avLst>
          </a:prstGeom>
          <a:solidFill>
            <a:srgbClr val="F0E1B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1447800" y="7162800"/>
            <a:ext cx="9144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6B5238"/>
                </a:solidFill>
                <a:latin typeface="Inter Bold"/>
                <a:ea typeface="Inter Bold"/>
                <a:cs typeface="Inter Bold"/>
              </a:rPr>
              <a:t>蛋糕展示</a:t>
            </a:r>
            <a:endParaRPr lang="zh-CN" sz="1800">
              <a:solidFill>
                <a:srgbClr val="6B5238"/>
              </a:solidFill>
              <a:latin typeface="Inter Bold"/>
              <a:ea typeface="Inter Bold"/>
              <a:cs typeface="Inter Bold"/>
            </a:endParaRPr>
          </a:p>
        </p:txBody>
      </p:sp>
      <p:sp>
        <p:nvSpPr>
          <p:cNvPr id="11" name="Rectangle"/>
          <p:cNvSpPr/>
          <p:nvPr/>
        </p:nvSpPr>
        <p:spPr>
          <a:xfrm>
            <a:off x="1143000" y="6667500"/>
            <a:ext cx="762000" cy="57150"/>
          </a:xfrm>
          <a:prstGeom prst="roundRect">
            <a:avLst>
              <a:gd name="adj" fmla="val 50000"/>
            </a:avLst>
          </a:prstGeom>
          <a:solidFill>
            <a:srgbClr val="C6B29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8F3EA"/>
              </a:gs>
              <a:gs pos="100000">
                <a:srgbClr val="FBF7F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"/>
          <p:cNvPicPr>
            <a:picLocks noChangeAspect="1"/>
          </p:cNvPicPr>
          <p:nvPr/>
        </p:nvPicPr>
        <p:blipFill>
          <a:blip r:embed="rId1"/>
          <a:srcRect l="18963" r="18963"/>
          <a:stretch>
            <a:fillRect/>
          </a:stretch>
        </p:blipFill>
        <p:spPr>
          <a:xfrm>
            <a:off x="7239000" y="1143000"/>
            <a:ext cx="9906000" cy="8001000"/>
          </a:xfrm>
          <a:prstGeom prst="rect">
            <a:avLst/>
          </a:prstGeom>
        </p:spPr>
      </p:pic>
      <p:sp>
        <p:nvSpPr>
          <p:cNvPr id="4" name="TextBox"/>
          <p:cNvSpPr txBox="1"/>
          <p:nvPr/>
        </p:nvSpPr>
        <p:spPr>
          <a:xfrm>
            <a:off x="1143000" y="1714500"/>
            <a:ext cx="1298981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24">
                <a:solidFill>
                  <a:srgbClr val="8B6F52"/>
                </a:solidFill>
                <a:latin typeface="Cormorant Garamond Italic"/>
                <a:ea typeface="Cormorant Garamond Italic"/>
                <a:cs typeface="Cormorant Garamond Italic"/>
              </a:rPr>
              <a:t>BACK OFFICE</a:t>
            </a:r>
            <a:endParaRPr lang="en-US" sz="1800" spc="24">
              <a:solidFill>
                <a:srgbClr val="8B6F52"/>
              </a:solidFill>
              <a:latin typeface="Cormorant Garamond Italic"/>
              <a:ea typeface="Cormorant Garamond Italic"/>
              <a:cs typeface="Cormorant Garamond Italic"/>
            </a:endParaRPr>
          </a:p>
        </p:txBody>
      </p:sp>
      <p:sp>
        <p:nvSpPr>
          <p:cNvPr id="5" name="TextBox"/>
          <p:cNvSpPr txBox="1"/>
          <p:nvPr/>
        </p:nvSpPr>
        <p:spPr>
          <a:xfrm>
            <a:off x="1143000" y="2190750"/>
            <a:ext cx="4267200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4800"/>
              </a:lnSpc>
            </a:pPr>
            <a:r>
              <a:rPr lang="zh-CN" sz="4200">
                <a:solidFill>
                  <a:srgbClr val="3F2E1F"/>
                </a:solidFill>
                <a:latin typeface="Noto Serif SC Bold"/>
                <a:ea typeface="Noto Serif SC Bold"/>
                <a:cs typeface="Noto Serif SC Bold"/>
              </a:rPr>
              <a:t>经营数据一屏掌握</a:t>
            </a:r>
            <a:endParaRPr lang="zh-CN" sz="4200">
              <a:solidFill>
                <a:srgbClr val="3F2E1F"/>
              </a:solidFill>
              <a:latin typeface="Noto Serif SC Bold"/>
              <a:ea typeface="Noto Serif SC Bold"/>
              <a:cs typeface="Noto Serif SC Bold"/>
            </a:endParaRPr>
          </a:p>
        </p:txBody>
      </p:sp>
      <p:sp>
        <p:nvSpPr>
          <p:cNvPr id="6" name="TextBox"/>
          <p:cNvSpPr txBox="1"/>
          <p:nvPr/>
        </p:nvSpPr>
        <p:spPr>
          <a:xfrm>
            <a:off x="1143000" y="3810000"/>
            <a:ext cx="518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400">
                <a:solidFill>
                  <a:srgbClr val="6B5A4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顶部聚合蛋糕、订单、门店、留言核心指标</a:t>
            </a:r>
            <a:endParaRPr lang="zh-CN" sz="2400">
              <a:solidFill>
                <a:srgbClr val="6B5A4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7" name="TextBox"/>
          <p:cNvSpPr txBox="1"/>
          <p:nvPr/>
        </p:nvSpPr>
        <p:spPr>
          <a:xfrm>
            <a:off x="1143000" y="4762500"/>
            <a:ext cx="51816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400">
                <a:solidFill>
                  <a:srgbClr val="6B5A4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最近订单实时滚动，状态分布直观可视</a:t>
            </a:r>
            <a:endParaRPr lang="zh-CN" sz="2400">
              <a:solidFill>
                <a:srgbClr val="6B5A4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8" name="TextBox"/>
          <p:cNvSpPr txBox="1"/>
          <p:nvPr/>
        </p:nvSpPr>
        <p:spPr>
          <a:xfrm>
            <a:off x="1143000" y="5715000"/>
            <a:ext cx="518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400">
                <a:solidFill>
                  <a:srgbClr val="6B5A4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沿用品牌暖米色调，兼顾信息密度与视觉温度</a:t>
            </a:r>
            <a:endParaRPr lang="zh-CN" sz="2400">
              <a:solidFill>
                <a:srgbClr val="6B5A4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9" name="Rectangle"/>
          <p:cNvSpPr/>
          <p:nvPr/>
        </p:nvSpPr>
        <p:spPr>
          <a:xfrm>
            <a:off x="1143000" y="7048500"/>
            <a:ext cx="1524000" cy="495300"/>
          </a:xfrm>
          <a:prstGeom prst="roundRect">
            <a:avLst>
              <a:gd name="adj" fmla="val 50000"/>
            </a:avLst>
          </a:prstGeom>
          <a:solidFill>
            <a:srgbClr val="F0E1B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1562100" y="7162800"/>
            <a:ext cx="6858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6B5238"/>
                </a:solidFill>
                <a:latin typeface="Inter Bold"/>
                <a:ea typeface="Inter Bold"/>
                <a:cs typeface="Inter Bold"/>
              </a:rPr>
              <a:t>仪表盘</a:t>
            </a:r>
            <a:endParaRPr lang="zh-CN" sz="1800">
              <a:solidFill>
                <a:srgbClr val="6B5238"/>
              </a:solidFill>
              <a:latin typeface="Inter Bold"/>
              <a:ea typeface="Inter Bold"/>
              <a:cs typeface="Inter Bold"/>
            </a:endParaRPr>
          </a:p>
        </p:txBody>
      </p:sp>
      <p:sp>
        <p:nvSpPr>
          <p:cNvPr id="11" name="Rectangle"/>
          <p:cNvSpPr/>
          <p:nvPr/>
        </p:nvSpPr>
        <p:spPr>
          <a:xfrm>
            <a:off x="1143000" y="6667500"/>
            <a:ext cx="762000" cy="57150"/>
          </a:xfrm>
          <a:prstGeom prst="roundRect">
            <a:avLst>
              <a:gd name="adj" fmla="val 50000"/>
            </a:avLst>
          </a:prstGeom>
          <a:solidFill>
            <a:srgbClr val="C6B29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8F3EA"/>
              </a:gs>
              <a:gs pos="100000">
                <a:srgbClr val="FBF7F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"/>
          <p:cNvPicPr>
            <a:picLocks noChangeAspect="1"/>
          </p:cNvPicPr>
          <p:nvPr/>
        </p:nvPicPr>
        <p:blipFill>
          <a:blip r:embed="rId1"/>
          <a:srcRect l="19558" r="19558"/>
          <a:stretch>
            <a:fillRect/>
          </a:stretch>
        </p:blipFill>
        <p:spPr>
          <a:xfrm>
            <a:off x="1143000" y="1143000"/>
            <a:ext cx="9906000" cy="8001000"/>
          </a:xfrm>
          <a:prstGeom prst="rect">
            <a:avLst/>
          </a:prstGeom>
        </p:spPr>
      </p:pic>
      <p:sp>
        <p:nvSpPr>
          <p:cNvPr id="4" name="TextBox"/>
          <p:cNvSpPr txBox="1"/>
          <p:nvPr/>
        </p:nvSpPr>
        <p:spPr>
          <a:xfrm>
            <a:off x="11430000" y="1714500"/>
            <a:ext cx="1298981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24">
                <a:solidFill>
                  <a:srgbClr val="8B6F52"/>
                </a:solidFill>
                <a:latin typeface="Cormorant Garamond Italic"/>
                <a:ea typeface="Cormorant Garamond Italic"/>
                <a:cs typeface="Cormorant Garamond Italic"/>
              </a:rPr>
              <a:t>BACK OFFICE</a:t>
            </a:r>
            <a:endParaRPr lang="en-US" sz="1800" spc="24">
              <a:solidFill>
                <a:srgbClr val="8B6F52"/>
              </a:solidFill>
              <a:latin typeface="Cormorant Garamond Italic"/>
              <a:ea typeface="Cormorant Garamond Italic"/>
              <a:cs typeface="Cormorant Garamond Italic"/>
            </a:endParaRPr>
          </a:p>
        </p:txBody>
      </p:sp>
      <p:sp>
        <p:nvSpPr>
          <p:cNvPr id="5" name="TextBox"/>
          <p:cNvSpPr txBox="1"/>
          <p:nvPr/>
        </p:nvSpPr>
        <p:spPr>
          <a:xfrm>
            <a:off x="11430000" y="2204720"/>
            <a:ext cx="3200400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4800"/>
              </a:lnSpc>
            </a:pPr>
            <a:r>
              <a:rPr lang="zh-CN" sz="4200">
                <a:solidFill>
                  <a:srgbClr val="3F2E1F"/>
                </a:solidFill>
                <a:latin typeface="Noto Serif SC Bold"/>
                <a:ea typeface="Noto Serif SC Bold"/>
                <a:cs typeface="Noto Serif SC Bold"/>
              </a:rPr>
              <a:t>内容自助运营</a:t>
            </a:r>
            <a:endParaRPr lang="zh-CN" sz="4200">
              <a:solidFill>
                <a:srgbClr val="3F2E1F"/>
              </a:solidFill>
              <a:latin typeface="Noto Serif SC Bold"/>
              <a:ea typeface="Noto Serif SC Bold"/>
              <a:cs typeface="Noto Serif SC Bold"/>
            </a:endParaRPr>
          </a:p>
        </p:txBody>
      </p:sp>
      <p:sp>
        <p:nvSpPr>
          <p:cNvPr id="9" name="Rectangle"/>
          <p:cNvSpPr/>
          <p:nvPr/>
        </p:nvSpPr>
        <p:spPr>
          <a:xfrm>
            <a:off x="11430000" y="7048500"/>
            <a:ext cx="1524000" cy="495300"/>
          </a:xfrm>
          <a:prstGeom prst="roundRect">
            <a:avLst>
              <a:gd name="adj" fmla="val 50000"/>
            </a:avLst>
          </a:prstGeom>
          <a:solidFill>
            <a:srgbClr val="F0E1B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11734800" y="7162800"/>
            <a:ext cx="9144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6B5238"/>
                </a:solidFill>
                <a:latin typeface="Inter Bold"/>
                <a:ea typeface="Inter Bold"/>
                <a:cs typeface="Inter Bold"/>
              </a:rPr>
              <a:t>内容管理</a:t>
            </a:r>
            <a:endParaRPr lang="zh-CN" sz="1800">
              <a:solidFill>
                <a:srgbClr val="6B5238"/>
              </a:solidFill>
              <a:latin typeface="Inter Bold"/>
              <a:ea typeface="Inter Bold"/>
              <a:cs typeface="Inter Bold"/>
            </a:endParaRPr>
          </a:p>
        </p:txBody>
      </p:sp>
      <p:sp>
        <p:nvSpPr>
          <p:cNvPr id="11" name="Rectangle"/>
          <p:cNvSpPr/>
          <p:nvPr/>
        </p:nvSpPr>
        <p:spPr>
          <a:xfrm>
            <a:off x="11430000" y="6667500"/>
            <a:ext cx="762000" cy="57150"/>
          </a:xfrm>
          <a:prstGeom prst="roundRect">
            <a:avLst>
              <a:gd name="adj" fmla="val 50000"/>
            </a:avLst>
          </a:prstGeom>
          <a:solidFill>
            <a:srgbClr val="C6B29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430000" y="3538220"/>
            <a:ext cx="672846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     </a:t>
            </a:r>
            <a:r>
              <a:rPr lang="zh-CN" altLang="en-US" sz="2800"/>
              <a:t>这是后台的内容管理模块，覆盖 Banner、品牌故事、理念、特色、历程等九大区块。内容用富文本加 Markdown 存储，运营可以自己维护文案和图片，不需要每次都找开发。前后台共享同一套视觉体系，也降低了维护成本。</a:t>
            </a:r>
            <a:endParaRPr lang="zh-CN" altLang="en-US"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8F3EA"/>
              </a:gs>
              <a:gs pos="100000">
                <a:srgbClr val="FBF7F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52500"/>
            <a:ext cx="1859204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24">
                <a:solidFill>
                  <a:srgbClr val="8B6F52"/>
                </a:solidFill>
                <a:latin typeface="Cormorant Garamond Italic"/>
                <a:ea typeface="Cormorant Garamond Italic"/>
                <a:cs typeface="Cormorant Garamond Italic"/>
              </a:rPr>
              <a:t>PROJECT INSIGHTS</a:t>
            </a:r>
            <a:endParaRPr lang="en-US" sz="1800" spc="24">
              <a:solidFill>
                <a:srgbClr val="8B6F52"/>
              </a:solidFill>
              <a:latin typeface="Cormorant Garamond Italic"/>
              <a:ea typeface="Cormorant Garamond Italic"/>
              <a:cs typeface="Cormorant Garamond Italic"/>
            </a:endParaRPr>
          </a:p>
        </p:txBody>
      </p:sp>
      <p:sp>
        <p:nvSpPr>
          <p:cNvPr id="4" name="TextBox"/>
          <p:cNvSpPr txBox="1"/>
          <p:nvPr/>
        </p:nvSpPr>
        <p:spPr>
          <a:xfrm>
            <a:off x="1143000" y="1524000"/>
            <a:ext cx="2743200" cy="981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5400">
                <a:solidFill>
                  <a:srgbClr val="3F2E1F"/>
                </a:solidFill>
                <a:latin typeface="Noto Serif SC Bold"/>
                <a:ea typeface="Noto Serif SC Bold"/>
                <a:cs typeface="Noto Serif SC Bold"/>
              </a:rPr>
              <a:t>项目心得</a:t>
            </a:r>
            <a:endParaRPr lang="zh-CN" sz="5400">
              <a:solidFill>
                <a:srgbClr val="3F2E1F"/>
              </a:solidFill>
              <a:latin typeface="Noto Serif SC Bold"/>
              <a:ea typeface="Noto Serif SC Bold"/>
              <a:cs typeface="Noto Serif SC Bold"/>
            </a:endParaRPr>
          </a:p>
        </p:txBody>
      </p:sp>
      <p:sp>
        <p:nvSpPr>
          <p:cNvPr id="5" name="Rectangle"/>
          <p:cNvSpPr/>
          <p:nvPr/>
        </p:nvSpPr>
        <p:spPr>
          <a:xfrm>
            <a:off x="1143000" y="3429000"/>
            <a:ext cx="4953000" cy="4572000"/>
          </a:xfrm>
          <a:prstGeom prst="roundRect">
            <a:avLst>
              <a:gd name="adj" fmla="val 2916"/>
            </a:avLst>
          </a:prstGeom>
          <a:solidFill>
            <a:srgbClr val="FFFC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3343275" y="4419600"/>
            <a:ext cx="554812" cy="828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5400">
                <a:solidFill>
                  <a:srgbClr val="C6B291"/>
                </a:solidFill>
                <a:latin typeface="Cormorant Garamond Bold"/>
                <a:ea typeface="Cormorant Garamond Bold"/>
                <a:cs typeface="Cormorant Garamond Bold"/>
              </a:rPr>
              <a:t>01</a:t>
            </a:r>
            <a:endParaRPr lang="en-US" sz="5400">
              <a:solidFill>
                <a:srgbClr val="C6B291"/>
              </a:solidFill>
              <a:latin typeface="Cormorant Garamond Bold"/>
              <a:ea typeface="Cormorant Garamond Bold"/>
              <a:cs typeface="Cormorant Garamond Bold"/>
            </a:endParaRPr>
          </a:p>
        </p:txBody>
      </p:sp>
      <p:sp>
        <p:nvSpPr>
          <p:cNvPr id="7" name="TextBox"/>
          <p:cNvSpPr txBox="1"/>
          <p:nvPr/>
        </p:nvSpPr>
        <p:spPr>
          <a:xfrm>
            <a:off x="2857500" y="5476875"/>
            <a:ext cx="1524000" cy="542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3000">
                <a:solidFill>
                  <a:srgbClr val="3F2E1F"/>
                </a:solidFill>
                <a:latin typeface="Noto Serif SC Bold"/>
                <a:ea typeface="Noto Serif SC Bold"/>
                <a:cs typeface="Noto Serif SC Bold"/>
              </a:rPr>
              <a:t>规范先行</a:t>
            </a:r>
            <a:endParaRPr lang="zh-CN" sz="3000">
              <a:solidFill>
                <a:srgbClr val="3F2E1F"/>
              </a:solidFill>
              <a:latin typeface="Noto Serif SC Bold"/>
              <a:ea typeface="Noto Serif SC Bold"/>
              <a:cs typeface="Noto Serif SC Bold"/>
            </a:endParaRPr>
          </a:p>
        </p:txBody>
      </p:sp>
      <p:sp>
        <p:nvSpPr>
          <p:cNvPr id="8" name="TextBox"/>
          <p:cNvSpPr txBox="1"/>
          <p:nvPr/>
        </p:nvSpPr>
        <p:spPr>
          <a:xfrm>
            <a:off x="1619250" y="62484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700"/>
              </a:lnSpc>
            </a:pPr>
            <a:r>
              <a:rPr lang="zh-CN" sz="2100">
                <a:solidFill>
                  <a:srgbClr val="6B5A4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原型与文档是验收基准，偏差早发现早修正</a:t>
            </a:r>
            <a:endParaRPr lang="zh-CN" sz="2100">
              <a:solidFill>
                <a:srgbClr val="6B5A4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9" name="Rectangle"/>
          <p:cNvSpPr/>
          <p:nvPr/>
        </p:nvSpPr>
        <p:spPr>
          <a:xfrm>
            <a:off x="6667500" y="3429000"/>
            <a:ext cx="4953000" cy="4572000"/>
          </a:xfrm>
          <a:prstGeom prst="roundRect">
            <a:avLst>
              <a:gd name="adj" fmla="val 2916"/>
            </a:avLst>
          </a:prstGeom>
          <a:solidFill>
            <a:srgbClr val="FFFC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8839200" y="4419600"/>
            <a:ext cx="602818" cy="828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5400">
                <a:solidFill>
                  <a:srgbClr val="C6B291"/>
                </a:solidFill>
                <a:latin typeface="Cormorant Garamond Bold"/>
                <a:ea typeface="Cormorant Garamond Bold"/>
                <a:cs typeface="Cormorant Garamond Bold"/>
              </a:rPr>
              <a:t>02</a:t>
            </a:r>
            <a:endParaRPr lang="en-US" sz="5400">
              <a:solidFill>
                <a:srgbClr val="C6B291"/>
              </a:solidFill>
              <a:latin typeface="Cormorant Garamond Bold"/>
              <a:ea typeface="Cormorant Garamond Bold"/>
              <a:cs typeface="Cormorant Garamond Bold"/>
            </a:endParaRPr>
          </a:p>
        </p:txBody>
      </p:sp>
      <p:sp>
        <p:nvSpPr>
          <p:cNvPr id="11" name="TextBox"/>
          <p:cNvSpPr txBox="1"/>
          <p:nvPr/>
        </p:nvSpPr>
        <p:spPr>
          <a:xfrm>
            <a:off x="8496300" y="5476875"/>
            <a:ext cx="1301877" cy="542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3000">
                <a:solidFill>
                  <a:srgbClr val="3F2E1F"/>
                </a:solidFill>
                <a:latin typeface="Noto Serif SC Bold"/>
                <a:ea typeface="Noto Serif SC Bold"/>
                <a:cs typeface="Noto Serif SC Bold"/>
              </a:rPr>
              <a:t>AI </a:t>
            </a:r>
            <a:endParaRPr lang="en-US" sz="3000">
              <a:solidFill>
                <a:srgbClr val="3F2E1F"/>
              </a:solidFill>
              <a:latin typeface="Noto Serif SC Bold"/>
              <a:ea typeface="Noto Serif SC Bold"/>
              <a:cs typeface="Noto Serif SC Bold"/>
            </a:endParaRPr>
          </a:p>
        </p:txBody>
      </p:sp>
      <p:sp>
        <p:nvSpPr>
          <p:cNvPr id="12" name="TextBox"/>
          <p:cNvSpPr txBox="1"/>
          <p:nvPr/>
        </p:nvSpPr>
        <p:spPr>
          <a:xfrm>
            <a:off x="7147483" y="6248400"/>
            <a:ext cx="399303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700"/>
              </a:lnSpc>
            </a:pPr>
            <a:r>
              <a:rPr lang="en-US" sz="2100">
                <a:solidFill>
                  <a:srgbClr val="6B5A4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WorkBuddy 在诊断、方案迭代和素材生成上大幅提升了交付效率</a:t>
            </a:r>
            <a:endParaRPr lang="en-US" sz="2100">
              <a:solidFill>
                <a:srgbClr val="6B5A4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13" name="Rectangle"/>
          <p:cNvSpPr/>
          <p:nvPr/>
        </p:nvSpPr>
        <p:spPr>
          <a:xfrm>
            <a:off x="12192000" y="3429000"/>
            <a:ext cx="4953000" cy="4572000"/>
          </a:xfrm>
          <a:prstGeom prst="roundRect">
            <a:avLst>
              <a:gd name="adj" fmla="val 2916"/>
            </a:avLst>
          </a:prstGeom>
          <a:solidFill>
            <a:srgbClr val="FFFC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14373225" y="4419600"/>
            <a:ext cx="597332" cy="828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5400">
                <a:solidFill>
                  <a:srgbClr val="C6B291"/>
                </a:solidFill>
                <a:latin typeface="Cormorant Garamond Bold"/>
                <a:ea typeface="Cormorant Garamond Bold"/>
                <a:cs typeface="Cormorant Garamond Bold"/>
              </a:rPr>
              <a:t>03</a:t>
            </a:r>
            <a:endParaRPr lang="en-US" sz="5400">
              <a:solidFill>
                <a:srgbClr val="C6B291"/>
              </a:solidFill>
              <a:latin typeface="Cormorant Garamond Bold"/>
              <a:ea typeface="Cormorant Garamond Bold"/>
              <a:cs typeface="Cormorant Garamond Bold"/>
            </a:endParaRPr>
          </a:p>
        </p:txBody>
      </p:sp>
      <p:sp>
        <p:nvSpPr>
          <p:cNvPr id="15" name="TextBox"/>
          <p:cNvSpPr txBox="1"/>
          <p:nvPr/>
        </p:nvSpPr>
        <p:spPr>
          <a:xfrm>
            <a:off x="13906500" y="5476875"/>
            <a:ext cx="1524000" cy="542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3000">
                <a:solidFill>
                  <a:srgbClr val="3F2E1F"/>
                </a:solidFill>
                <a:latin typeface="Noto Serif SC Bold"/>
                <a:ea typeface="Noto Serif SC Bold"/>
                <a:cs typeface="Noto Serif SC Bold"/>
              </a:rPr>
              <a:t>持续迭代</a:t>
            </a:r>
            <a:endParaRPr lang="zh-CN" sz="3000">
              <a:solidFill>
                <a:srgbClr val="3F2E1F"/>
              </a:solidFill>
              <a:latin typeface="Noto Serif SC Bold"/>
              <a:ea typeface="Noto Serif SC Bold"/>
              <a:cs typeface="Noto Serif SC Bold"/>
            </a:endParaRPr>
          </a:p>
        </p:txBody>
      </p:sp>
      <p:sp>
        <p:nvSpPr>
          <p:cNvPr id="16" name="TextBox"/>
          <p:cNvSpPr txBox="1"/>
          <p:nvPr/>
        </p:nvSpPr>
        <p:spPr>
          <a:xfrm>
            <a:off x="12579439" y="6248400"/>
            <a:ext cx="417812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700"/>
              </a:lnSpc>
            </a:pPr>
            <a:r>
              <a:rPr lang="en-US" sz="2100">
                <a:solidFill>
                  <a:srgbClr val="6B5A4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 持续迭代：把风险列成清单、变成强制项，才能让同类 BUG 难以复发。</a:t>
            </a:r>
            <a:endParaRPr lang="en-US" sz="2100">
              <a:solidFill>
                <a:srgbClr val="6B5A4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6B52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4191000"/>
            <a:ext cx="3657600" cy="1314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200">
                <a:solidFill>
                  <a:srgbClr val="FFFCF6"/>
                </a:solidFill>
                <a:latin typeface="Noto Serif SC Bold"/>
                <a:ea typeface="Noto Serif SC Bold"/>
                <a:cs typeface="Noto Serif SC Bold"/>
              </a:rPr>
              <a:t>感谢聆听</a:t>
            </a:r>
            <a:endParaRPr lang="zh-CN" sz="7200">
              <a:solidFill>
                <a:srgbClr val="FFFCF6"/>
              </a:solidFill>
              <a:latin typeface="Noto Serif SC Bold"/>
              <a:ea typeface="Noto Serif SC Bold"/>
              <a:cs typeface="Noto Serif SC Bold"/>
            </a:endParaRPr>
          </a:p>
        </p:txBody>
      </p:sp>
      <p:sp>
        <p:nvSpPr>
          <p:cNvPr id="4" name="TextBox"/>
          <p:cNvSpPr txBox="1"/>
          <p:nvPr/>
        </p:nvSpPr>
        <p:spPr>
          <a:xfrm>
            <a:off x="1143000" y="5524500"/>
            <a:ext cx="5431193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700">
                <a:solidFill>
                  <a:srgbClr val="F0E1B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 · </a:t>
            </a:r>
            <a:endParaRPr lang="en-US" sz="2700">
              <a:solidFill>
                <a:srgbClr val="F0E1B9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5" name="Rectangle"/>
          <p:cNvSpPr/>
          <p:nvPr/>
        </p:nvSpPr>
        <p:spPr>
          <a:xfrm>
            <a:off x="13335000" y="2857500"/>
            <a:ext cx="3048000" cy="3048000"/>
          </a:xfrm>
          <a:prstGeom prst="roundRect">
            <a:avLst>
              <a:gd name="adj" fmla="val 50000"/>
            </a:avLst>
          </a:prstGeom>
          <a:solidFill>
            <a:srgbClr val="8B6F5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1143000" y="64770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F0E1B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1466850" y="6505575"/>
            <a:ext cx="1524000" cy="76200"/>
          </a:xfrm>
          <a:prstGeom prst="roundRect">
            <a:avLst>
              <a:gd name="adj" fmla="val 50000"/>
            </a:avLst>
          </a:prstGeom>
          <a:solidFill>
            <a:srgbClr val="F0E1B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文本框 7"/>
          <p:cNvSpPr txBox="1"/>
          <p:nvPr/>
        </p:nvSpPr>
        <p:spPr>
          <a:xfrm>
            <a:off x="1251585" y="7933055"/>
            <a:ext cx="42506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2026.8.28</a:t>
            </a:r>
            <a:endParaRPr lang="en-US" altLang="zh-CN" sz="32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GX">
  <a:themeElements>
    <a:clrScheme name="PAGX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GX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AG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1188</Words>
  <Application>WPS 演示</Application>
  <PresentationFormat/>
  <Paragraphs>122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44" baseType="lpstr">
      <vt:lpstr>Arial</vt:lpstr>
      <vt:lpstr>宋体</vt:lpstr>
      <vt:lpstr>Wingdings</vt:lpstr>
      <vt:lpstr>Noto Serif SC Bold</vt:lpstr>
      <vt:lpstr>Noto Serif SC</vt:lpstr>
      <vt:lpstr>Cormorant Garamond Italic</vt:lpstr>
      <vt:lpstr>Cormorant Garamond Bold</vt:lpstr>
      <vt:lpstr>Garamond</vt:lpstr>
      <vt:lpstr>Cormorant Garamond Bold Italic</vt:lpstr>
      <vt:lpstr>Inter Bold</vt:lpstr>
      <vt:lpstr>Cormorant Garamond</vt:lpstr>
      <vt:lpstr>Calibri</vt:lpstr>
      <vt:lpstr>微软雅黑</vt:lpstr>
      <vt:lpstr>Arial Unicode MS</vt:lpstr>
      <vt:lpstr>Segoe Print</vt:lpstr>
      <vt:lpstr>楷体</vt:lpstr>
      <vt:lpstr>华文仿宋</vt:lpstr>
      <vt:lpstr>华文中宋</vt:lpstr>
      <vt:lpstr>华文宋体</vt:lpstr>
      <vt:lpstr>华文行楷</vt:lpstr>
      <vt:lpstr>华文彩云</vt:lpstr>
      <vt:lpstr>华文新魏</vt:lpstr>
      <vt:lpstr>幼圆</vt:lpstr>
      <vt:lpstr>阿里巴巴普惠体 M</vt:lpstr>
      <vt:lpstr>MingLiU-ExtB</vt:lpstr>
      <vt:lpstr>MingLiU_HKSCS-ExtB</vt:lpstr>
      <vt:lpstr>Noto Sans SC Black</vt:lpstr>
      <vt:lpstr>Noto Sans SC</vt:lpstr>
      <vt:lpstr>Noto Sans SC DemiLight</vt:lpstr>
      <vt:lpstr>Noto Sans SC Light</vt:lpstr>
      <vt:lpstr>Noto Sans SC Medium</vt:lpstr>
      <vt:lpstr>MiSans</vt:lpstr>
      <vt:lpstr>Noto Serif SC Black</vt:lpstr>
      <vt:lpstr>PAGX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飞鱼鲲</cp:lastModifiedBy>
  <cp:revision>3</cp:revision>
  <dcterms:created xsi:type="dcterms:W3CDTF">2026-08-28T01:13:42Z</dcterms:created>
  <dcterms:modified xsi:type="dcterms:W3CDTF">2026-08-28T07:32:24Z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